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7" r:id="rId4"/>
    <p:sldId id="258" r:id="rId5"/>
    <p:sldId id="268" r:id="rId6"/>
    <p:sldId id="269" r:id="rId7"/>
    <p:sldId id="270" r:id="rId8"/>
    <p:sldId id="271" r:id="rId9"/>
    <p:sldId id="26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AE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68" d="100"/>
          <a:sy n="68" d="100"/>
        </p:scale>
        <p:origin x="616" y="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Kumar" userId="4b8b3abb7d05be94" providerId="LiveId" clId="{61CED7F9-2482-4AD1-B45E-E8AC7920D609}"/>
    <pc:docChg chg="custSel addSld delSld modSld">
      <pc:chgData name="Rahul Kumar" userId="4b8b3abb7d05be94" providerId="LiveId" clId="{61CED7F9-2482-4AD1-B45E-E8AC7920D609}" dt="2025-12-18T16:29:49.960" v="3168" actId="255"/>
      <pc:docMkLst>
        <pc:docMk/>
      </pc:docMkLst>
      <pc:sldChg chg="del">
        <pc:chgData name="Rahul Kumar" userId="4b8b3abb7d05be94" providerId="LiveId" clId="{61CED7F9-2482-4AD1-B45E-E8AC7920D609}" dt="2025-12-18T16:10:08.475" v="1799" actId="47"/>
        <pc:sldMkLst>
          <pc:docMk/>
          <pc:sldMk cId="3948826341" sldId="259"/>
        </pc:sldMkLst>
      </pc:sldChg>
      <pc:sldChg chg="addSp delSp modSp mod">
        <pc:chgData name="Rahul Kumar" userId="4b8b3abb7d05be94" providerId="LiveId" clId="{61CED7F9-2482-4AD1-B45E-E8AC7920D609}" dt="2025-12-18T16:00:08.684" v="1798" actId="12385"/>
        <pc:sldMkLst>
          <pc:docMk/>
          <pc:sldMk cId="2738627701" sldId="260"/>
        </pc:sldMkLst>
        <pc:spChg chg="mod">
          <ac:chgData name="Rahul Kumar" userId="4b8b3abb7d05be94" providerId="LiveId" clId="{61CED7F9-2482-4AD1-B45E-E8AC7920D609}" dt="2025-12-18T15:42:02.870" v="1097" actId="20577"/>
          <ac:spMkLst>
            <pc:docMk/>
            <pc:sldMk cId="2738627701" sldId="260"/>
            <ac:spMk id="2" creationId="{00000000-0000-0000-0000-000000000000}"/>
          </ac:spMkLst>
        </pc:spChg>
        <pc:spChg chg="mod">
          <ac:chgData name="Rahul Kumar" userId="4b8b3abb7d05be94" providerId="LiveId" clId="{61CED7F9-2482-4AD1-B45E-E8AC7920D609}" dt="2025-12-18T15:59:50.012" v="1797" actId="27636"/>
          <ac:spMkLst>
            <pc:docMk/>
            <pc:sldMk cId="2738627701" sldId="260"/>
            <ac:spMk id="3" creationId="{00000000-0000-0000-0000-000000000000}"/>
          </ac:spMkLst>
        </pc:spChg>
        <pc:spChg chg="add del mod">
          <ac:chgData name="Rahul Kumar" userId="4b8b3abb7d05be94" providerId="LiveId" clId="{61CED7F9-2482-4AD1-B45E-E8AC7920D609}" dt="2025-12-18T15:53:48.760" v="1463" actId="478"/>
          <ac:spMkLst>
            <pc:docMk/>
            <pc:sldMk cId="2738627701" sldId="260"/>
            <ac:spMk id="6" creationId="{C7013B23-B58B-0015-6155-0B62A8FF7458}"/>
          </ac:spMkLst>
        </pc:spChg>
        <pc:graphicFrameChg chg="del modGraphic">
          <ac:chgData name="Rahul Kumar" userId="4b8b3abb7d05be94" providerId="LiveId" clId="{61CED7F9-2482-4AD1-B45E-E8AC7920D609}" dt="2025-12-18T15:53:36.236" v="1462" actId="478"/>
          <ac:graphicFrameMkLst>
            <pc:docMk/>
            <pc:sldMk cId="2738627701" sldId="260"/>
            <ac:graphicFrameMk id="5" creationId="{00000000-0000-0000-0000-000000000000}"/>
          </ac:graphicFrameMkLst>
        </pc:graphicFrameChg>
        <pc:graphicFrameChg chg="add mod modGraphic">
          <ac:chgData name="Rahul Kumar" userId="4b8b3abb7d05be94" providerId="LiveId" clId="{61CED7F9-2482-4AD1-B45E-E8AC7920D609}" dt="2025-12-18T16:00:08.684" v="1798" actId="12385"/>
          <ac:graphicFrameMkLst>
            <pc:docMk/>
            <pc:sldMk cId="2738627701" sldId="260"/>
            <ac:graphicFrameMk id="7" creationId="{C6BE432F-7738-ACD9-879F-A9EC49FFF005}"/>
          </ac:graphicFrameMkLst>
        </pc:graphicFrameChg>
      </pc:sldChg>
      <pc:sldChg chg="modSp del mod">
        <pc:chgData name="Rahul Kumar" userId="4b8b3abb7d05be94" providerId="LiveId" clId="{61CED7F9-2482-4AD1-B45E-E8AC7920D609}" dt="2025-12-18T16:28:05.990" v="3163" actId="47"/>
        <pc:sldMkLst>
          <pc:docMk/>
          <pc:sldMk cId="3537718460" sldId="261"/>
        </pc:sldMkLst>
        <pc:spChg chg="mod">
          <ac:chgData name="Rahul Kumar" userId="4b8b3abb7d05be94" providerId="LiveId" clId="{61CED7F9-2482-4AD1-B45E-E8AC7920D609}" dt="2025-12-18T16:27:16.080" v="3147" actId="20577"/>
          <ac:spMkLst>
            <pc:docMk/>
            <pc:sldMk cId="3537718460" sldId="261"/>
            <ac:spMk id="2" creationId="{00000000-0000-0000-0000-000000000000}"/>
          </ac:spMkLst>
        </pc:spChg>
        <pc:spChg chg="mod">
          <ac:chgData name="Rahul Kumar" userId="4b8b3abb7d05be94" providerId="LiveId" clId="{61CED7F9-2482-4AD1-B45E-E8AC7920D609}" dt="2025-12-18T16:27:34.156" v="3162" actId="20577"/>
          <ac:spMkLst>
            <pc:docMk/>
            <pc:sldMk cId="3537718460" sldId="261"/>
            <ac:spMk id="3" creationId="{00000000-0000-0000-0000-000000000000}"/>
          </ac:spMkLst>
        </pc:spChg>
      </pc:sldChg>
      <pc:sldChg chg="del">
        <pc:chgData name="Rahul Kumar" userId="4b8b3abb7d05be94" providerId="LiveId" clId="{61CED7F9-2482-4AD1-B45E-E8AC7920D609}" dt="2025-12-18T16:26:06.292" v="3113" actId="47"/>
        <pc:sldMkLst>
          <pc:docMk/>
          <pc:sldMk cId="2637673684" sldId="262"/>
        </pc:sldMkLst>
      </pc:sldChg>
      <pc:sldChg chg="del">
        <pc:chgData name="Rahul Kumar" userId="4b8b3abb7d05be94" providerId="LiveId" clId="{61CED7F9-2482-4AD1-B45E-E8AC7920D609}" dt="2025-12-18T16:26:05.568" v="3112" actId="47"/>
        <pc:sldMkLst>
          <pc:docMk/>
          <pc:sldMk cId="547100618" sldId="263"/>
        </pc:sldMkLst>
      </pc:sldChg>
      <pc:sldChg chg="del">
        <pc:chgData name="Rahul Kumar" userId="4b8b3abb7d05be94" providerId="LiveId" clId="{61CED7F9-2482-4AD1-B45E-E8AC7920D609}" dt="2025-12-18T16:26:04.819" v="3111" actId="47"/>
        <pc:sldMkLst>
          <pc:docMk/>
          <pc:sldMk cId="1001865620" sldId="264"/>
        </pc:sldMkLst>
      </pc:sldChg>
      <pc:sldChg chg="del">
        <pc:chgData name="Rahul Kumar" userId="4b8b3abb7d05be94" providerId="LiveId" clId="{61CED7F9-2482-4AD1-B45E-E8AC7920D609}" dt="2025-12-18T16:26:04.331" v="3110" actId="47"/>
        <pc:sldMkLst>
          <pc:docMk/>
          <pc:sldMk cId="2914748422" sldId="265"/>
        </pc:sldMkLst>
      </pc:sldChg>
      <pc:sldChg chg="del">
        <pc:chgData name="Rahul Kumar" userId="4b8b3abb7d05be94" providerId="LiveId" clId="{61CED7F9-2482-4AD1-B45E-E8AC7920D609}" dt="2025-12-18T16:26:03.686" v="3109" actId="47"/>
        <pc:sldMkLst>
          <pc:docMk/>
          <pc:sldMk cId="3049232890" sldId="266"/>
        </pc:sldMkLst>
      </pc:sldChg>
      <pc:sldChg chg="modSp mod">
        <pc:chgData name="Rahul Kumar" userId="4b8b3abb7d05be94" providerId="LiveId" clId="{61CED7F9-2482-4AD1-B45E-E8AC7920D609}" dt="2025-12-18T16:29:49.960" v="3168" actId="255"/>
        <pc:sldMkLst>
          <pc:docMk/>
          <pc:sldMk cId="1611090091" sldId="268"/>
        </pc:sldMkLst>
        <pc:graphicFrameChg chg="mod">
          <ac:chgData name="Rahul Kumar" userId="4b8b3abb7d05be94" providerId="LiveId" clId="{61CED7F9-2482-4AD1-B45E-E8AC7920D609}" dt="2025-12-18T16:29:49.960" v="3168" actId="255"/>
          <ac:graphicFrameMkLst>
            <pc:docMk/>
            <pc:sldMk cId="1611090091" sldId="268"/>
            <ac:graphicFrameMk id="3" creationId="{59E29E05-E6F0-5387-24AE-17C5FA69141E}"/>
          </ac:graphicFrameMkLst>
        </pc:graphicFrameChg>
        <pc:graphicFrameChg chg="mod modGraphic">
          <ac:chgData name="Rahul Kumar" userId="4b8b3abb7d05be94" providerId="LiveId" clId="{61CED7F9-2482-4AD1-B45E-E8AC7920D609}" dt="2025-12-18T09:46:20.413" v="22"/>
          <ac:graphicFrameMkLst>
            <pc:docMk/>
            <pc:sldMk cId="1611090091" sldId="268"/>
            <ac:graphicFrameMk id="8" creationId="{290F1428-3237-2411-DBE1-BBCE15692B2B}"/>
          </ac:graphicFrameMkLst>
        </pc:graphicFrameChg>
      </pc:sldChg>
      <pc:sldChg chg="addSp delSp modSp add mod">
        <pc:chgData name="Rahul Kumar" userId="4b8b3abb7d05be94" providerId="LiveId" clId="{61CED7F9-2482-4AD1-B45E-E8AC7920D609}" dt="2025-12-18T14:50:52.454" v="247" actId="255"/>
        <pc:sldMkLst>
          <pc:docMk/>
          <pc:sldMk cId="251840885" sldId="269"/>
        </pc:sldMkLst>
        <pc:spChg chg="mod">
          <ac:chgData name="Rahul Kumar" userId="4b8b3abb7d05be94" providerId="LiveId" clId="{61CED7F9-2482-4AD1-B45E-E8AC7920D609}" dt="2025-12-18T14:44:31.764" v="78" actId="20577"/>
          <ac:spMkLst>
            <pc:docMk/>
            <pc:sldMk cId="251840885" sldId="269"/>
            <ac:spMk id="2" creationId="{BD84E389-FD4B-8863-3BBD-63149394280E}"/>
          </ac:spMkLst>
        </pc:spChg>
        <pc:spChg chg="mod">
          <ac:chgData name="Rahul Kumar" userId="4b8b3abb7d05be94" providerId="LiveId" clId="{61CED7F9-2482-4AD1-B45E-E8AC7920D609}" dt="2025-12-18T14:49:10.170" v="227" actId="113"/>
          <ac:spMkLst>
            <pc:docMk/>
            <pc:sldMk cId="251840885" sldId="269"/>
            <ac:spMk id="4" creationId="{03447750-DDFE-C8BF-BD2D-009444BEC149}"/>
          </ac:spMkLst>
        </pc:spChg>
        <pc:graphicFrameChg chg="del">
          <ac:chgData name="Rahul Kumar" userId="4b8b3abb7d05be94" providerId="LiveId" clId="{61CED7F9-2482-4AD1-B45E-E8AC7920D609}" dt="2025-12-18T14:49:21.109" v="228" actId="478"/>
          <ac:graphicFrameMkLst>
            <pc:docMk/>
            <pc:sldMk cId="251840885" sldId="269"/>
            <ac:graphicFrameMk id="3" creationId="{3A8609FC-4B31-D841-E1CF-F54793956BFE}"/>
          </ac:graphicFrameMkLst>
        </pc:graphicFrameChg>
        <pc:graphicFrameChg chg="add mod">
          <ac:chgData name="Rahul Kumar" userId="4b8b3abb7d05be94" providerId="LiveId" clId="{61CED7F9-2482-4AD1-B45E-E8AC7920D609}" dt="2025-12-18T14:50:52.454" v="247" actId="255"/>
          <ac:graphicFrameMkLst>
            <pc:docMk/>
            <pc:sldMk cId="251840885" sldId="269"/>
            <ac:graphicFrameMk id="5" creationId="{36282EEC-FC8F-0535-62C3-2226C3457876}"/>
          </ac:graphicFrameMkLst>
        </pc:graphicFrameChg>
        <pc:graphicFrameChg chg="del">
          <ac:chgData name="Rahul Kumar" userId="4b8b3abb7d05be94" providerId="LiveId" clId="{61CED7F9-2482-4AD1-B45E-E8AC7920D609}" dt="2025-12-18T14:45:14.650" v="171" actId="478"/>
          <ac:graphicFrameMkLst>
            <pc:docMk/>
            <pc:sldMk cId="251840885" sldId="269"/>
            <ac:graphicFrameMk id="8" creationId="{DA7EC97E-61F7-B7EE-B9F2-6649B3E676CF}"/>
          </ac:graphicFrameMkLst>
        </pc:graphicFrameChg>
      </pc:sldChg>
      <pc:sldChg chg="addSp delSp modSp add mod">
        <pc:chgData name="Rahul Kumar" userId="4b8b3abb7d05be94" providerId="LiveId" clId="{61CED7F9-2482-4AD1-B45E-E8AC7920D609}" dt="2025-12-18T15:02:12.460" v="596" actId="255"/>
        <pc:sldMkLst>
          <pc:docMk/>
          <pc:sldMk cId="3774986456" sldId="270"/>
        </pc:sldMkLst>
        <pc:spChg chg="mod">
          <ac:chgData name="Rahul Kumar" userId="4b8b3abb7d05be94" providerId="LiveId" clId="{61CED7F9-2482-4AD1-B45E-E8AC7920D609}" dt="2025-12-18T14:53:05.022" v="310" actId="20577"/>
          <ac:spMkLst>
            <pc:docMk/>
            <pc:sldMk cId="3774986456" sldId="270"/>
            <ac:spMk id="2" creationId="{22D00E1B-2ABD-975A-3EAE-0183A3DBBC8E}"/>
          </ac:spMkLst>
        </pc:spChg>
        <pc:spChg chg="mod">
          <ac:chgData name="Rahul Kumar" userId="4b8b3abb7d05be94" providerId="LiveId" clId="{61CED7F9-2482-4AD1-B45E-E8AC7920D609}" dt="2025-12-18T14:58:19.316" v="536" actId="27636"/>
          <ac:spMkLst>
            <pc:docMk/>
            <pc:sldMk cId="3774986456" sldId="270"/>
            <ac:spMk id="4" creationId="{65D80E4A-99D7-67CA-0696-0467C904587E}"/>
          </ac:spMkLst>
        </pc:spChg>
        <pc:graphicFrameChg chg="add mod">
          <ac:chgData name="Rahul Kumar" userId="4b8b3abb7d05be94" providerId="LiveId" clId="{61CED7F9-2482-4AD1-B45E-E8AC7920D609}" dt="2025-12-18T15:02:12.460" v="596" actId="255"/>
          <ac:graphicFrameMkLst>
            <pc:docMk/>
            <pc:sldMk cId="3774986456" sldId="270"/>
            <ac:graphicFrameMk id="3" creationId="{0FB83D5E-7F72-94EA-999D-9D55C1E1C8BB}"/>
          </ac:graphicFrameMkLst>
        </pc:graphicFrameChg>
        <pc:graphicFrameChg chg="del">
          <ac:chgData name="Rahul Kumar" userId="4b8b3abb7d05be94" providerId="LiveId" clId="{61CED7F9-2482-4AD1-B45E-E8AC7920D609}" dt="2025-12-18T14:58:28.239" v="537" actId="478"/>
          <ac:graphicFrameMkLst>
            <pc:docMk/>
            <pc:sldMk cId="3774986456" sldId="270"/>
            <ac:graphicFrameMk id="5" creationId="{A2C88F58-D378-7C58-27DE-1FEFD10893D1}"/>
          </ac:graphicFrameMkLst>
        </pc:graphicFrameChg>
      </pc:sldChg>
      <pc:sldChg chg="addSp delSp modSp add mod">
        <pc:chgData name="Rahul Kumar" userId="4b8b3abb7d05be94" providerId="LiveId" clId="{61CED7F9-2482-4AD1-B45E-E8AC7920D609}" dt="2025-12-18T15:38:44.208" v="1023" actId="20577"/>
        <pc:sldMkLst>
          <pc:docMk/>
          <pc:sldMk cId="3749607851" sldId="271"/>
        </pc:sldMkLst>
        <pc:spChg chg="mod">
          <ac:chgData name="Rahul Kumar" userId="4b8b3abb7d05be94" providerId="LiveId" clId="{61CED7F9-2482-4AD1-B45E-E8AC7920D609}" dt="2025-12-18T15:04:12.442" v="664" actId="20577"/>
          <ac:spMkLst>
            <pc:docMk/>
            <pc:sldMk cId="3749607851" sldId="271"/>
            <ac:spMk id="2" creationId="{3446A739-D7FE-0BD5-DFAC-17D3165B322C}"/>
          </ac:spMkLst>
        </pc:spChg>
        <pc:spChg chg="mod">
          <ac:chgData name="Rahul Kumar" userId="4b8b3abb7d05be94" providerId="LiveId" clId="{61CED7F9-2482-4AD1-B45E-E8AC7920D609}" dt="2025-12-18T15:09:34.665" v="854" actId="27636"/>
          <ac:spMkLst>
            <pc:docMk/>
            <pc:sldMk cId="3749607851" sldId="271"/>
            <ac:spMk id="4" creationId="{43BAA0D1-C71E-B22D-5C79-188EA52FBC9C}"/>
          </ac:spMkLst>
        </pc:spChg>
        <pc:graphicFrameChg chg="del">
          <ac:chgData name="Rahul Kumar" userId="4b8b3abb7d05be94" providerId="LiveId" clId="{61CED7F9-2482-4AD1-B45E-E8AC7920D609}" dt="2025-12-18T15:08:37.138" v="846" actId="478"/>
          <ac:graphicFrameMkLst>
            <pc:docMk/>
            <pc:sldMk cId="3749607851" sldId="271"/>
            <ac:graphicFrameMk id="3" creationId="{5C219BD7-8BE9-98DF-6FD8-A139B2166508}"/>
          </ac:graphicFrameMkLst>
        </pc:graphicFrameChg>
        <pc:graphicFrameChg chg="add del mod modGraphic">
          <ac:chgData name="Rahul Kumar" userId="4b8b3abb7d05be94" providerId="LiveId" clId="{61CED7F9-2482-4AD1-B45E-E8AC7920D609}" dt="2025-12-18T15:16:45.912" v="932" actId="478"/>
          <ac:graphicFrameMkLst>
            <pc:docMk/>
            <pc:sldMk cId="3749607851" sldId="271"/>
            <ac:graphicFrameMk id="5" creationId="{0B75605F-13B9-265B-4DA1-23E9AD52C9FE}"/>
          </ac:graphicFrameMkLst>
        </pc:graphicFrameChg>
        <pc:graphicFrameChg chg="add mod modGraphic">
          <ac:chgData name="Rahul Kumar" userId="4b8b3abb7d05be94" providerId="LiveId" clId="{61CED7F9-2482-4AD1-B45E-E8AC7920D609}" dt="2025-12-18T15:38:44.208" v="1023" actId="20577"/>
          <ac:graphicFrameMkLst>
            <pc:docMk/>
            <pc:sldMk cId="3749607851" sldId="271"/>
            <ac:graphicFrameMk id="6" creationId="{AABAF8AA-C38E-05B9-91E9-441AE634A240}"/>
          </ac:graphicFrameMkLst>
        </pc:graphicFrameChg>
      </pc:sldChg>
      <pc:sldChg chg="addSp delSp modSp add mod">
        <pc:chgData name="Rahul Kumar" userId="4b8b3abb7d05be94" providerId="LiveId" clId="{61CED7F9-2482-4AD1-B45E-E8AC7920D609}" dt="2025-12-18T16:25:49.345" v="3108" actId="1036"/>
        <pc:sldMkLst>
          <pc:docMk/>
          <pc:sldMk cId="1774983657" sldId="272"/>
        </pc:sldMkLst>
        <pc:spChg chg="mod">
          <ac:chgData name="Rahul Kumar" userId="4b8b3abb7d05be94" providerId="LiveId" clId="{61CED7F9-2482-4AD1-B45E-E8AC7920D609}" dt="2025-12-18T16:11:54.274" v="1875" actId="20577"/>
          <ac:spMkLst>
            <pc:docMk/>
            <pc:sldMk cId="1774983657" sldId="272"/>
            <ac:spMk id="2" creationId="{717CFA8D-0870-D1AA-9F39-4A097AD5B326}"/>
          </ac:spMkLst>
        </pc:spChg>
        <pc:spChg chg="mod">
          <ac:chgData name="Rahul Kumar" userId="4b8b3abb7d05be94" providerId="LiveId" clId="{61CED7F9-2482-4AD1-B45E-E8AC7920D609}" dt="2025-12-18T16:21:16.151" v="2840" actId="20577"/>
          <ac:spMkLst>
            <pc:docMk/>
            <pc:sldMk cId="1774983657" sldId="272"/>
            <ac:spMk id="3" creationId="{FC516B7F-8508-830E-552C-7EEB0D23CA3F}"/>
          </ac:spMkLst>
        </pc:spChg>
        <pc:spChg chg="add mod">
          <ac:chgData name="Rahul Kumar" userId="4b8b3abb7d05be94" providerId="LiveId" clId="{61CED7F9-2482-4AD1-B45E-E8AC7920D609}" dt="2025-12-18T16:25:49.345" v="3108" actId="1036"/>
          <ac:spMkLst>
            <pc:docMk/>
            <pc:sldMk cId="1774983657" sldId="272"/>
            <ac:spMk id="4" creationId="{6CEF30CC-9A81-DAD4-52E3-17D8723081D6}"/>
          </ac:spMkLst>
        </pc:spChg>
        <pc:spChg chg="add mod">
          <ac:chgData name="Rahul Kumar" userId="4b8b3abb7d05be94" providerId="LiveId" clId="{61CED7F9-2482-4AD1-B45E-E8AC7920D609}" dt="2025-12-18T16:25:29.313" v="3102" actId="1036"/>
          <ac:spMkLst>
            <pc:docMk/>
            <pc:sldMk cId="1774983657" sldId="272"/>
            <ac:spMk id="5" creationId="{F0346F5D-6EEF-B5D7-6654-71C2440D0477}"/>
          </ac:spMkLst>
        </pc:spChg>
        <pc:graphicFrameChg chg="del">
          <ac:chgData name="Rahul Kumar" userId="4b8b3abb7d05be94" providerId="LiveId" clId="{61CED7F9-2482-4AD1-B45E-E8AC7920D609}" dt="2025-12-18T16:11:57.837" v="1876" actId="478"/>
          <ac:graphicFrameMkLst>
            <pc:docMk/>
            <pc:sldMk cId="1774983657" sldId="272"/>
            <ac:graphicFrameMk id="7" creationId="{44729453-CAEC-AFAE-6141-5541DE04CFA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lini\Downloads\Shalini%20Projects\Shalini%20US%20Healthcare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lini\Downloads\Shalini%20Projects\Shalini%20US%20Healthcare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lini\Downloads\Shalini%20Projects\Shalini%20US%20Healthcare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alini\Downloads\Shalini%20Projects\Shalini%20US%20Healthcare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[Shalini US Healthcare Project.xlsx]Demographic Analysis &amp; Insights!PivotTable3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Medical</a:t>
            </a:r>
            <a:r>
              <a:rPr lang="en-IN" baseline="0"/>
              <a:t> Cond. By Gender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'Demographic Analysis &amp; Insights'!$C$3:$C$4</c:f>
              <c:strCache>
                <c:ptCount val="1"/>
                <c:pt idx="0">
                  <c:v>F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Insights'!$B$5:$B$11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Insights'!$C$5:$C$11</c:f>
              <c:numCache>
                <c:formatCode>General</c:formatCode>
                <c:ptCount val="6"/>
                <c:pt idx="0">
                  <c:v>821</c:v>
                </c:pt>
                <c:pt idx="1">
                  <c:v>742</c:v>
                </c:pt>
                <c:pt idx="2">
                  <c:v>836</c:v>
                </c:pt>
                <c:pt idx="3">
                  <c:v>825</c:v>
                </c:pt>
                <c:pt idx="4">
                  <c:v>836</c:v>
                </c:pt>
                <c:pt idx="5">
                  <c:v>1015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8D-46D8-85A4-8DC3F78C41A7}"/>
            </c:ext>
          </c:extLst>
        </c:ser>
        <c:ser>
          <c:idx val="1"/>
          <c:order val="1"/>
          <c:tx>
            <c:strRef>
              <c:f>'Demographic Analysis &amp; Insights'!$D$3:$D$4</c:f>
              <c:strCache>
                <c:ptCount val="1"/>
                <c:pt idx="0">
                  <c:v>M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Insights'!$B$5:$B$11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Insights'!$D$5:$D$11</c:f>
              <c:numCache>
                <c:formatCode>General</c:formatCode>
                <c:ptCount val="6"/>
                <c:pt idx="0">
                  <c:v>766</c:v>
                </c:pt>
                <c:pt idx="1">
                  <c:v>808</c:v>
                </c:pt>
                <c:pt idx="2">
                  <c:v>811</c:v>
                </c:pt>
                <c:pt idx="3">
                  <c:v>609</c:v>
                </c:pt>
                <c:pt idx="4">
                  <c:v>1319</c:v>
                </c:pt>
                <c:pt idx="5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8D-46D8-85A4-8DC3F78C41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6822544"/>
        <c:axId val="486823024"/>
      </c:barChart>
      <c:catAx>
        <c:axId val="48682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823024"/>
        <c:crosses val="autoZero"/>
        <c:auto val="1"/>
        <c:lblAlgn val="ctr"/>
        <c:lblOffset val="100"/>
        <c:noMultiLvlLbl val="0"/>
      </c:catAx>
      <c:valAx>
        <c:axId val="486823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822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[Shalini US Healthcare Project.xlsx]Demographic Analysis &amp; Insights!PivotTable4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Medical</a:t>
            </a:r>
            <a:r>
              <a:rPr lang="en-IN" baseline="0"/>
              <a:t> Condition By Age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'Demographic Analysis &amp; Insights'!$H$3:$H$4</c:f>
              <c:strCache>
                <c:ptCount val="1"/>
                <c:pt idx="0">
                  <c:v>Middle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Insights'!$G$5:$G$11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Insights'!$H$5:$H$11</c:f>
              <c:numCache>
                <c:formatCode>General</c:formatCode>
                <c:ptCount val="6"/>
                <c:pt idx="0">
                  <c:v>518</c:v>
                </c:pt>
                <c:pt idx="1">
                  <c:v>671</c:v>
                </c:pt>
                <c:pt idx="2">
                  <c:v>553</c:v>
                </c:pt>
                <c:pt idx="3">
                  <c:v>515</c:v>
                </c:pt>
                <c:pt idx="4">
                  <c:v>836</c:v>
                </c:pt>
                <c:pt idx="5">
                  <c:v>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52-4ACC-AD4D-261230BF9D61}"/>
            </c:ext>
          </c:extLst>
        </c:ser>
        <c:ser>
          <c:idx val="1"/>
          <c:order val="1"/>
          <c:tx>
            <c:strRef>
              <c:f>'Demographic Analysis &amp; Insights'!$I$3:$I$4</c:f>
              <c:strCache>
                <c:ptCount val="1"/>
                <c:pt idx="0">
                  <c:v>Senior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Insights'!$G$5:$G$11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Insights'!$I$5:$I$11</c:f>
              <c:numCache>
                <c:formatCode>General</c:formatCode>
                <c:ptCount val="6"/>
                <c:pt idx="0">
                  <c:v>961</c:v>
                </c:pt>
                <c:pt idx="1">
                  <c:v>617</c:v>
                </c:pt>
                <c:pt idx="2">
                  <c:v>961</c:v>
                </c:pt>
                <c:pt idx="3">
                  <c:v>764</c:v>
                </c:pt>
                <c:pt idx="4">
                  <c:v>1105</c:v>
                </c:pt>
                <c:pt idx="5">
                  <c:v>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52-4ACC-AD4D-261230BF9D61}"/>
            </c:ext>
          </c:extLst>
        </c:ser>
        <c:ser>
          <c:idx val="2"/>
          <c:order val="2"/>
          <c:tx>
            <c:strRef>
              <c:f>'Demographic Analysis &amp; Insights'!$J$3:$J$4</c:f>
              <c:strCache>
                <c:ptCount val="1"/>
                <c:pt idx="0">
                  <c:v>Young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Insights'!$G$5:$G$11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Insights'!$J$5:$J$11</c:f>
              <c:numCache>
                <c:formatCode>General</c:formatCode>
                <c:ptCount val="6"/>
                <c:pt idx="0">
                  <c:v>108</c:v>
                </c:pt>
                <c:pt idx="1">
                  <c:v>262</c:v>
                </c:pt>
                <c:pt idx="2">
                  <c:v>133</c:v>
                </c:pt>
                <c:pt idx="3">
                  <c:v>155</c:v>
                </c:pt>
                <c:pt idx="4">
                  <c:v>214</c:v>
                </c:pt>
                <c:pt idx="5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52-4ACC-AD4D-261230BF9D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765755296"/>
        <c:axId val="1765766816"/>
      </c:barChart>
      <c:catAx>
        <c:axId val="17657552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766816"/>
        <c:crosses val="autoZero"/>
        <c:auto val="1"/>
        <c:lblAlgn val="ctr"/>
        <c:lblOffset val="100"/>
        <c:noMultiLvlLbl val="0"/>
      </c:catAx>
      <c:valAx>
        <c:axId val="176576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755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000" dirty="0"/>
              <a:t>Patients By Medical Condition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6151959357772989E-2"/>
          <c:y val="0.19045724454129723"/>
          <c:w val="0.60792091062534814"/>
          <c:h val="0.67649978311751169"/>
        </c:manualLayout>
      </c:layout>
      <c:doughnutChart>
        <c:varyColors val="1"/>
        <c:ser>
          <c:idx val="0"/>
          <c:order val="0"/>
          <c:tx>
            <c:strRef>
              <c:f>'Suggestions For Hospitals'!$D$24</c:f>
              <c:strCache>
                <c:ptCount val="1"/>
                <c:pt idx="0">
                  <c:v>% Of Total Patient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D36-486A-9CA5-A3360F5DD57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D36-486A-9CA5-A3360F5DD57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D36-486A-9CA5-A3360F5DD575}"/>
              </c:ext>
            </c:extLst>
          </c:dPt>
          <c:dPt>
            <c:idx val="3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D36-486A-9CA5-A3360F5DD575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D36-486A-9CA5-A3360F5DD575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DD36-486A-9CA5-A3360F5DD57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'Suggestions For Hospitals'!$B$25:$B$30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'Suggestions For Hospitals'!$D$25:$D$30</c:f>
              <c:numCache>
                <c:formatCode>0%</c:formatCode>
                <c:ptCount val="6"/>
                <c:pt idx="0">
                  <c:v>0.15870000000000001</c:v>
                </c:pt>
                <c:pt idx="1">
                  <c:v>0.155</c:v>
                </c:pt>
                <c:pt idx="2">
                  <c:v>0.16470000000000001</c:v>
                </c:pt>
                <c:pt idx="3">
                  <c:v>0.1434</c:v>
                </c:pt>
                <c:pt idx="4">
                  <c:v>0.2155</c:v>
                </c:pt>
                <c:pt idx="5">
                  <c:v>0.16270000000000001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36-486A-9CA5-A3360F5DD5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6134049505691406"/>
          <c:y val="0.12455790762434472"/>
          <c:w val="0.28977907856554885"/>
          <c:h val="0.847239966779228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[Shalini US Healthcare Project.xlsx]Demographic Analysis &amp; Insights!PivotTable5</c:name>
    <c:fmtId val="8"/>
  </c:pivotSource>
  <c:chart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'Demographic Analysis &amp; Insights'!$N$3:$N$4</c:f>
              <c:strCache>
                <c:ptCount val="1"/>
                <c:pt idx="0">
                  <c:v>A-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Insights'!$N$5:$N$11</c:f>
              <c:numCache>
                <c:formatCode>General</c:formatCode>
                <c:ptCount val="6"/>
                <c:pt idx="0">
                  <c:v>190</c:v>
                </c:pt>
                <c:pt idx="1">
                  <c:v>199</c:v>
                </c:pt>
                <c:pt idx="2">
                  <c:v>202</c:v>
                </c:pt>
                <c:pt idx="3">
                  <c:v>186</c:v>
                </c:pt>
                <c:pt idx="4">
                  <c:v>260</c:v>
                </c:pt>
                <c:pt idx="5">
                  <c:v>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ED-4367-82A1-56C6EA144D8C}"/>
            </c:ext>
          </c:extLst>
        </c:ser>
        <c:ser>
          <c:idx val="1"/>
          <c:order val="1"/>
          <c:tx>
            <c:strRef>
              <c:f>'Demographic Analysis &amp; Insights'!$O$3:$O$4</c:f>
              <c:strCache>
                <c:ptCount val="1"/>
                <c:pt idx="0">
                  <c:v>A+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Insights'!$O$5:$O$11</c:f>
              <c:numCache>
                <c:formatCode>General</c:formatCode>
                <c:ptCount val="6"/>
                <c:pt idx="0">
                  <c:v>194</c:v>
                </c:pt>
                <c:pt idx="1">
                  <c:v>210</c:v>
                </c:pt>
                <c:pt idx="2">
                  <c:v>201</c:v>
                </c:pt>
                <c:pt idx="3">
                  <c:v>171</c:v>
                </c:pt>
                <c:pt idx="4">
                  <c:v>265</c:v>
                </c:pt>
                <c:pt idx="5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ED-4367-82A1-56C6EA144D8C}"/>
            </c:ext>
          </c:extLst>
        </c:ser>
        <c:ser>
          <c:idx val="2"/>
          <c:order val="2"/>
          <c:tx>
            <c:strRef>
              <c:f>'Demographic Analysis &amp; Insights'!$P$3:$P$4</c:f>
              <c:strCache>
                <c:ptCount val="1"/>
                <c:pt idx="0">
                  <c:v>AB-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Insights'!$P$5:$P$11</c:f>
              <c:numCache>
                <c:formatCode>General</c:formatCode>
                <c:ptCount val="6"/>
                <c:pt idx="0">
                  <c:v>194</c:v>
                </c:pt>
                <c:pt idx="1">
                  <c:v>184</c:v>
                </c:pt>
                <c:pt idx="2">
                  <c:v>189</c:v>
                </c:pt>
                <c:pt idx="3">
                  <c:v>192</c:v>
                </c:pt>
                <c:pt idx="4">
                  <c:v>277</c:v>
                </c:pt>
                <c:pt idx="5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ED-4367-82A1-56C6EA144D8C}"/>
            </c:ext>
          </c:extLst>
        </c:ser>
        <c:ser>
          <c:idx val="3"/>
          <c:order val="3"/>
          <c:tx>
            <c:strRef>
              <c:f>'Demographic Analysis &amp; Insights'!$Q$3:$Q$4</c:f>
              <c:strCache>
                <c:ptCount val="1"/>
                <c:pt idx="0">
                  <c:v>AB+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Insights'!$Q$5:$Q$11</c:f>
              <c:numCache>
                <c:formatCode>General</c:formatCode>
                <c:ptCount val="6"/>
                <c:pt idx="0">
                  <c:v>219</c:v>
                </c:pt>
                <c:pt idx="1">
                  <c:v>178</c:v>
                </c:pt>
                <c:pt idx="2">
                  <c:v>200</c:v>
                </c:pt>
                <c:pt idx="3">
                  <c:v>182</c:v>
                </c:pt>
                <c:pt idx="4">
                  <c:v>268</c:v>
                </c:pt>
                <c:pt idx="5">
                  <c:v>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ED-4367-82A1-56C6EA144D8C}"/>
            </c:ext>
          </c:extLst>
        </c:ser>
        <c:ser>
          <c:idx val="4"/>
          <c:order val="4"/>
          <c:tx>
            <c:strRef>
              <c:f>'Demographic Analysis &amp; Insights'!$R$3:$R$4</c:f>
              <c:strCache>
                <c:ptCount val="1"/>
                <c:pt idx="0">
                  <c:v>B-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Insights'!$R$5:$R$11</c:f>
              <c:numCache>
                <c:formatCode>General</c:formatCode>
                <c:ptCount val="6"/>
                <c:pt idx="0">
                  <c:v>181</c:v>
                </c:pt>
                <c:pt idx="1">
                  <c:v>194</c:v>
                </c:pt>
                <c:pt idx="2">
                  <c:v>215</c:v>
                </c:pt>
                <c:pt idx="3">
                  <c:v>197</c:v>
                </c:pt>
                <c:pt idx="4">
                  <c:v>259</c:v>
                </c:pt>
                <c:pt idx="5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ED-4367-82A1-56C6EA144D8C}"/>
            </c:ext>
          </c:extLst>
        </c:ser>
        <c:ser>
          <c:idx val="5"/>
          <c:order val="5"/>
          <c:tx>
            <c:strRef>
              <c:f>'Demographic Analysis &amp; Insights'!$S$3:$S$4</c:f>
              <c:strCache>
                <c:ptCount val="1"/>
                <c:pt idx="0">
                  <c:v>B+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Insights'!$S$5:$S$11</c:f>
              <c:numCache>
                <c:formatCode>General</c:formatCode>
                <c:ptCount val="6"/>
                <c:pt idx="0">
                  <c:v>197</c:v>
                </c:pt>
                <c:pt idx="1">
                  <c:v>191</c:v>
                </c:pt>
                <c:pt idx="2">
                  <c:v>215</c:v>
                </c:pt>
                <c:pt idx="3">
                  <c:v>177</c:v>
                </c:pt>
                <c:pt idx="4">
                  <c:v>282</c:v>
                </c:pt>
                <c:pt idx="5">
                  <c:v>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ED-4367-82A1-56C6EA144D8C}"/>
            </c:ext>
          </c:extLst>
        </c:ser>
        <c:ser>
          <c:idx val="6"/>
          <c:order val="6"/>
          <c:tx>
            <c:strRef>
              <c:f>'Demographic Analysis &amp; Insights'!$T$3:$T$4</c:f>
              <c:strCache>
                <c:ptCount val="1"/>
                <c:pt idx="0">
                  <c:v>O-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Insights'!$T$5:$T$11</c:f>
              <c:numCache>
                <c:formatCode>General</c:formatCode>
                <c:ptCount val="6"/>
                <c:pt idx="0">
                  <c:v>209</c:v>
                </c:pt>
                <c:pt idx="1">
                  <c:v>184</c:v>
                </c:pt>
                <c:pt idx="2">
                  <c:v>207</c:v>
                </c:pt>
                <c:pt idx="3">
                  <c:v>174</c:v>
                </c:pt>
                <c:pt idx="4">
                  <c:v>276</c:v>
                </c:pt>
                <c:pt idx="5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AED-4367-82A1-56C6EA144D8C}"/>
            </c:ext>
          </c:extLst>
        </c:ser>
        <c:ser>
          <c:idx val="7"/>
          <c:order val="7"/>
          <c:tx>
            <c:strRef>
              <c:f>'Demographic Analysis &amp; Insights'!$U$3:$U$4</c:f>
              <c:strCache>
                <c:ptCount val="1"/>
                <c:pt idx="0">
                  <c:v>O+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 Analysis &amp; Insights'!$M$5:$M$11</c:f>
              <c:strCache>
                <c:ptCount val="6"/>
                <c:pt idx="0">
                  <c:v>Arthritis</c:v>
                </c:pt>
                <c:pt idx="1">
                  <c:v>Asthma</c:v>
                </c:pt>
                <c:pt idx="2">
                  <c:v>Cancer</c:v>
                </c:pt>
                <c:pt idx="3">
                  <c:v>Diabetes</c:v>
                </c:pt>
                <c:pt idx="4">
                  <c:v>Hypertension</c:v>
                </c:pt>
                <c:pt idx="5">
                  <c:v>Obesity</c:v>
                </c:pt>
              </c:strCache>
            </c:strRef>
          </c:cat>
          <c:val>
            <c:numRef>
              <c:f>'Demographic Analysis &amp; Insights'!$U$5:$U$11</c:f>
              <c:numCache>
                <c:formatCode>General</c:formatCode>
                <c:ptCount val="6"/>
                <c:pt idx="0">
                  <c:v>203</c:v>
                </c:pt>
                <c:pt idx="1">
                  <c:v>210</c:v>
                </c:pt>
                <c:pt idx="2">
                  <c:v>218</c:v>
                </c:pt>
                <c:pt idx="3">
                  <c:v>155</c:v>
                </c:pt>
                <c:pt idx="4">
                  <c:v>268</c:v>
                </c:pt>
                <c:pt idx="5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AED-4367-82A1-56C6EA144D8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65771136"/>
        <c:axId val="1765765856"/>
      </c:barChart>
      <c:catAx>
        <c:axId val="1765771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765856"/>
        <c:crosses val="autoZero"/>
        <c:auto val="1"/>
        <c:lblAlgn val="ctr"/>
        <c:lblOffset val="100"/>
        <c:noMultiLvlLbl val="0"/>
      </c:catAx>
      <c:valAx>
        <c:axId val="176576585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5771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743016057015866"/>
          <c:y val="6.1354479389984069E-2"/>
          <c:w val="0.10968608270222087"/>
          <c:h val="0.85322841776882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12/18/2025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12/18/2025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74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98C4-D818-B472-9AC3-AFDE7CB4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ABB95-6AF0-79E8-8D13-577FCAF26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AB62E-D4D9-B1F8-DC4B-D3FF3227A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F2CAC-C8CD-60D3-BFA8-22DE73E7A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780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65BC9-ABF4-F8C0-92D6-8ADAB2D6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33DE7-6888-A572-A9D3-853E9F44E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6034E-E493-F211-7CBE-5841A64A7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A35C7-193C-5D68-302B-12E59D779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366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453A-B583-9C1C-26C9-E9B6734C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4793-66A7-8A8F-E2C8-A5E0C84B9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DEC40-09BD-C41C-F897-A9F193080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BD835-BD55-71C2-210B-60BF8B0EF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847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9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12/18/2025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44824"/>
            <a:ext cx="3453551" cy="157718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US</a:t>
            </a:r>
            <a:r>
              <a:rPr lang="en-US" dirty="0"/>
              <a:t>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3597424"/>
            <a:ext cx="4098175" cy="685800"/>
          </a:xfrm>
        </p:spPr>
        <p:txBody>
          <a:bodyPr/>
          <a:lstStyle/>
          <a:p>
            <a:r>
              <a:rPr lang="en-US" dirty="0"/>
              <a:t>Analysis, Findings &amp; Suggestions.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 Healthcare Analytics : Patient Demographic, Billing Insights &amp; Hospital Resource &amp; Financial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988840"/>
            <a:ext cx="9144000" cy="3616425"/>
          </a:xfrm>
        </p:spPr>
        <p:txBody>
          <a:bodyPr/>
          <a:lstStyle/>
          <a:p>
            <a:r>
              <a:rPr lang="en-US" b="1" dirty="0"/>
              <a:t>Data-Driven Healthcare Analysis</a:t>
            </a:r>
            <a:r>
              <a:rPr lang="en-US" dirty="0"/>
              <a:t> – Investigating a dataset of 10000 patient records to identify key trends in demographic and hospital resource utilization.</a:t>
            </a:r>
          </a:p>
          <a:p>
            <a:r>
              <a:rPr lang="en-US" b="1" dirty="0"/>
              <a:t>Clinical Condition Insights</a:t>
            </a:r>
            <a:r>
              <a:rPr lang="en-US" dirty="0"/>
              <a:t> – Evaluating the impact of prevalent medical conditions, such as Hypertension (22% of cases) and Cancer on hospital admissions.</a:t>
            </a:r>
          </a:p>
          <a:p>
            <a:r>
              <a:rPr lang="en-US" b="1" dirty="0"/>
              <a:t>Financial &amp; Insurance optimization</a:t>
            </a:r>
            <a:r>
              <a:rPr lang="en-US" dirty="0"/>
              <a:t> – Analyzing billing patters across major insurance providers and admission types to identify cost-saving opportunities of 2-3%.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9F89-4344-C115-0F6C-5B71EE3D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E2BE-5D6F-327E-CB51-EA8967715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13F5-DC94-4837-EEF8-6400B7CDA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260847"/>
            <a:ext cx="9144000" cy="3616425"/>
          </a:xfrm>
        </p:spPr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 – To Optimize hospital operations and reduce patient billing through data analysis.</a:t>
            </a:r>
          </a:p>
          <a:p>
            <a:r>
              <a:rPr lang="en-US" b="1" dirty="0"/>
              <a:t>Scope</a:t>
            </a:r>
            <a:r>
              <a:rPr lang="en-US" dirty="0"/>
              <a:t>– The study covers patient gender distribution (5075 Males vs 4925 Females), seasonal admission peaks (Summer at 34%), and insurance provider efficiency.</a:t>
            </a:r>
          </a:p>
          <a:p>
            <a:r>
              <a:rPr lang="en-US" b="1" dirty="0"/>
              <a:t>Key Findings</a:t>
            </a:r>
            <a:r>
              <a:rPr lang="en-US" dirty="0"/>
              <a:t>– Emergency admissions are the most expensive, costing 4% more than the average, while Hypertension remains the leading cause of admission.</a:t>
            </a:r>
          </a:p>
        </p:txBody>
      </p:sp>
    </p:spTree>
    <p:extLst>
      <p:ext uri="{BB962C8B-B14F-4D97-AF65-F5344CB8AC3E}">
        <p14:creationId xmlns:p14="http://schemas.microsoft.com/office/powerpoint/2010/main" val="133114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Overview ( Gender 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4A40D-B9BF-A6D1-E081-1F7A0B04C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953343"/>
            <a:ext cx="4355976" cy="457200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Key Data Points – 5075 Males &amp; 4925 Females in Total 10000 patients.</a:t>
            </a:r>
          </a:p>
          <a:p>
            <a:pPr marL="0" indent="0">
              <a:buNone/>
            </a:pPr>
            <a:r>
              <a:rPr lang="en-IN" dirty="0"/>
              <a:t>Insight -</a:t>
            </a:r>
          </a:p>
          <a:p>
            <a:r>
              <a:rPr lang="en-IN" dirty="0"/>
              <a:t>Hypertension is more prominent in Males (for both middle &amp; senior aged group).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04C2E98-1199-F752-2D70-69AAA84329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1476921"/>
              </p:ext>
            </p:extLst>
          </p:nvPr>
        </p:nvGraphicFramePr>
        <p:xfrm>
          <a:off x="5807968" y="1953344"/>
          <a:ext cx="5904656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F77E-859C-AA47-9678-A679D351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45A9-C40C-47AF-6F40-FD36A572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Overview ( Age 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F5E9F-FE9C-C276-9706-09BC751D2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3" y="1953343"/>
            <a:ext cx="5672311" cy="248376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Key Data Points –1032 Young, 3764 Middle and 5204 Senior in Total 10000 patients.</a:t>
            </a:r>
          </a:p>
          <a:p>
            <a:pPr marL="0" indent="0">
              <a:buNone/>
            </a:pPr>
            <a:r>
              <a:rPr lang="en-IN" dirty="0"/>
              <a:t>Insight -</a:t>
            </a:r>
          </a:p>
          <a:p>
            <a:r>
              <a:rPr lang="en-IN" dirty="0"/>
              <a:t>Age is a significant risk factor for the development of Arthritis, Cancer and Hypertension.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9E29E05-E6F0-5387-24AE-17C5FA6914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8485316"/>
              </p:ext>
            </p:extLst>
          </p:nvPr>
        </p:nvGraphicFramePr>
        <p:xfrm>
          <a:off x="6096000" y="1988840"/>
          <a:ext cx="5672311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0F1428-3237-2411-DBE1-BBCE15692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9895"/>
              </p:ext>
            </p:extLst>
          </p:nvPr>
        </p:nvGraphicFramePr>
        <p:xfrm>
          <a:off x="263352" y="4404072"/>
          <a:ext cx="5472607" cy="2121272"/>
        </p:xfrm>
        <a:graphic>
          <a:graphicData uri="http://schemas.openxmlformats.org/drawingml/2006/table">
            <a:tbl>
              <a:tblPr firstRow="1" lastRow="1">
                <a:tableStyleId>{F5AB1C69-6EDB-4FF4-983F-18BD219EF322}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68423255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24415464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84857786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184891054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28716961"/>
                    </a:ext>
                  </a:extLst>
                </a:gridCol>
              </a:tblGrid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Medical Condition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Middle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Senior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Young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Grand Total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4220270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Arthritis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518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961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1587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68123440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Asthma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671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617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262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1550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0523726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Cancer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553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961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133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1647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3960545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Diabetes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764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155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1434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01507093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Hypertension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836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214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2155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59926170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Obesity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671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796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160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1627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6317239"/>
                  </a:ext>
                </a:extLst>
              </a:tr>
              <a:tr h="265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Grand Total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3764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5204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1032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10000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97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09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130A-6583-D363-C661-25215602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E389-FD4B-8863-3BBD-63149394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Condition Deep-Dive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47750-DDFE-C8BF-BD2D-009444BEC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3" y="1953343"/>
            <a:ext cx="5672311" cy="457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b="1" dirty="0"/>
              <a:t>Hypertension</a:t>
            </a:r>
            <a:r>
              <a:rPr lang="en-IN" dirty="0"/>
              <a:t> is the most common medical condition, accounting for </a:t>
            </a:r>
            <a:r>
              <a:rPr lang="en-IN" b="1" dirty="0"/>
              <a:t>2155</a:t>
            </a:r>
            <a:r>
              <a:rPr lang="en-IN" dirty="0"/>
              <a:t> total admissions (</a:t>
            </a:r>
            <a:r>
              <a:rPr lang="en-IN" b="1" dirty="0"/>
              <a:t>22% </a:t>
            </a:r>
            <a:r>
              <a:rPr lang="en-IN" dirty="0"/>
              <a:t>of total cases).</a:t>
            </a:r>
          </a:p>
          <a:p>
            <a:r>
              <a:rPr lang="en-IN" b="1" dirty="0"/>
              <a:t>Cancer</a:t>
            </a:r>
            <a:r>
              <a:rPr lang="en-IN" dirty="0"/>
              <a:t> shows a balanced but high demand across all types, with </a:t>
            </a:r>
            <a:r>
              <a:rPr lang="en-IN" b="1" dirty="0"/>
              <a:t>1647</a:t>
            </a:r>
            <a:r>
              <a:rPr lang="en-IN" dirty="0"/>
              <a:t> total patient needing a mix of elective, emergency, and urgent care.</a:t>
            </a:r>
          </a:p>
          <a:p>
            <a:r>
              <a:rPr lang="en-IN" b="1" dirty="0"/>
              <a:t>Recommendation</a:t>
            </a:r>
            <a:r>
              <a:rPr lang="en-IN" dirty="0"/>
              <a:t> - The hospital could reduce the load for Diabetes and Hypertension by launching care clinics to help patients manage their conditions at home.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282EEC-FC8F-0535-62C3-2226C34578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642361"/>
              </p:ext>
            </p:extLst>
          </p:nvPr>
        </p:nvGraphicFramePr>
        <p:xfrm>
          <a:off x="6328348" y="2060848"/>
          <a:ext cx="5312268" cy="432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1840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A8D3-0EBB-B2FF-D0BA-E7BA9420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0E1B-2ABD-975A-3EAE-0183A3DB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Blood Group &amp; Condition Correlation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80E4A-99D7-67CA-0696-0467C9045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3" y="1953343"/>
            <a:ext cx="5672311" cy="4572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b="1" dirty="0"/>
              <a:t>Insights -</a:t>
            </a:r>
            <a:r>
              <a:rPr lang="en-IN" dirty="0"/>
              <a:t> There is no direct correlation between any medical condition and Blood Group.</a:t>
            </a:r>
          </a:p>
          <a:p>
            <a:r>
              <a:rPr lang="en-IN" b="1" dirty="0"/>
              <a:t>Data Note – </a:t>
            </a:r>
            <a:r>
              <a:rPr lang="en-IN" dirty="0"/>
              <a:t>Each Medical condition, ranging from Arthritis to Obesity, is distributed almost equally across all Blood Groups, including A+, B+, and O+.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FB83D5E-7F72-94EA-999D-9D55C1E1C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7998344"/>
              </p:ext>
            </p:extLst>
          </p:nvPr>
        </p:nvGraphicFramePr>
        <p:xfrm>
          <a:off x="5951984" y="2087004"/>
          <a:ext cx="5914424" cy="422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74986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B981-F1A3-37C2-DD36-A575481E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A739-D7FE-0BD5-DFAC-17D3165B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Billing &amp; Insurance Optimization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AA0D1-C71E-B22D-5C79-188EA52FB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3" y="1484785"/>
            <a:ext cx="11809313" cy="19442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b="1" dirty="0"/>
              <a:t>Cost-Factor - </a:t>
            </a:r>
            <a:r>
              <a:rPr lang="en-IN" dirty="0"/>
              <a:t>Emergency admission type is more costly than the other admission types (4% more than the average).</a:t>
            </a:r>
          </a:p>
          <a:p>
            <a:r>
              <a:rPr lang="en-IN" b="1" dirty="0"/>
              <a:t>Insurance Choice – </a:t>
            </a:r>
            <a:r>
              <a:rPr lang="en-IN" dirty="0"/>
              <a:t>If you want to save money, </a:t>
            </a:r>
            <a:r>
              <a:rPr lang="en-IN" dirty="0" err="1"/>
              <a:t>Opt</a:t>
            </a:r>
            <a:r>
              <a:rPr lang="en-IN" dirty="0"/>
              <a:t> Blue Cross, Medicare and United HealthCare for 2-3% of savings.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BAF8AA-C38E-05B9-91E9-441AE634A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25044"/>
              </p:ext>
            </p:extLst>
          </p:nvPr>
        </p:nvGraphicFramePr>
        <p:xfrm>
          <a:off x="479376" y="3628517"/>
          <a:ext cx="11161239" cy="2608795"/>
        </p:xfrm>
        <a:graphic>
          <a:graphicData uri="http://schemas.openxmlformats.org/drawingml/2006/table">
            <a:tbl>
              <a:tblPr firstRow="1" lastRow="1">
                <a:tableStyleId>{F5AB1C69-6EDB-4FF4-983F-18BD219EF322}</a:tableStyleId>
              </a:tblPr>
              <a:tblGrid>
                <a:gridCol w="2225277">
                  <a:extLst>
                    <a:ext uri="{9D8B030D-6E8A-4147-A177-3AD203B41FA5}">
                      <a16:colId xmlns:a16="http://schemas.microsoft.com/office/drawing/2014/main" val="2259276659"/>
                    </a:ext>
                  </a:extLst>
                </a:gridCol>
                <a:gridCol w="852848">
                  <a:extLst>
                    <a:ext uri="{9D8B030D-6E8A-4147-A177-3AD203B41FA5}">
                      <a16:colId xmlns:a16="http://schemas.microsoft.com/office/drawing/2014/main" val="2371725497"/>
                    </a:ext>
                  </a:extLst>
                </a:gridCol>
                <a:gridCol w="1045342">
                  <a:extLst>
                    <a:ext uri="{9D8B030D-6E8A-4147-A177-3AD203B41FA5}">
                      <a16:colId xmlns:a16="http://schemas.microsoft.com/office/drawing/2014/main" val="1759324855"/>
                    </a:ext>
                  </a:extLst>
                </a:gridCol>
                <a:gridCol w="1254410">
                  <a:extLst>
                    <a:ext uri="{9D8B030D-6E8A-4147-A177-3AD203B41FA5}">
                      <a16:colId xmlns:a16="http://schemas.microsoft.com/office/drawing/2014/main" val="3006701129"/>
                    </a:ext>
                  </a:extLst>
                </a:gridCol>
                <a:gridCol w="1115032">
                  <a:extLst>
                    <a:ext uri="{9D8B030D-6E8A-4147-A177-3AD203B41FA5}">
                      <a16:colId xmlns:a16="http://schemas.microsoft.com/office/drawing/2014/main" val="4187208388"/>
                    </a:ext>
                  </a:extLst>
                </a:gridCol>
                <a:gridCol w="1677767">
                  <a:extLst>
                    <a:ext uri="{9D8B030D-6E8A-4147-A177-3AD203B41FA5}">
                      <a16:colId xmlns:a16="http://schemas.microsoft.com/office/drawing/2014/main" val="3745085141"/>
                    </a:ext>
                  </a:extLst>
                </a:gridCol>
                <a:gridCol w="1104145">
                  <a:extLst>
                    <a:ext uri="{9D8B030D-6E8A-4147-A177-3AD203B41FA5}">
                      <a16:colId xmlns:a16="http://schemas.microsoft.com/office/drawing/2014/main" val="207123460"/>
                    </a:ext>
                  </a:extLst>
                </a:gridCol>
                <a:gridCol w="1886418">
                  <a:extLst>
                    <a:ext uri="{9D8B030D-6E8A-4147-A177-3AD203B41FA5}">
                      <a16:colId xmlns:a16="http://schemas.microsoft.com/office/drawing/2014/main" val="2900047873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Admission Type/Insurance Provider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Aetna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Blue Cross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Cigna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Medicare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UnitedHealthcare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Grand Total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%Difference From Average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41856304"/>
                  </a:ext>
                </a:extLst>
              </a:tr>
              <a:tr h="418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Elective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23941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19974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25477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22487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23444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23039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-1%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6117194"/>
                  </a:ext>
                </a:extLst>
              </a:tr>
              <a:tr h="418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Emergency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24928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23927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24319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24381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23740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24279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4%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37370"/>
                  </a:ext>
                </a:extLst>
              </a:tr>
              <a:tr h="418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Urgent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23361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24187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22988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21854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21477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22731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-3%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EAE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611690"/>
                  </a:ext>
                </a:extLst>
              </a:tr>
              <a:tr h="4180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Average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24132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22772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24226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22943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22905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23381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0%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04290407"/>
                  </a:ext>
                </a:extLst>
              </a:tr>
              <a:tr h="43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%Difference From Avg.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3%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-3%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E1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-2%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E1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-2%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E1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0%</a:t>
                      </a: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091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607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Resource Planning ( Operational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360" y="1772816"/>
            <a:ext cx="11305256" cy="309634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Emergency Care </a:t>
            </a:r>
            <a:r>
              <a:rPr lang="en-US" dirty="0"/>
              <a:t>- </a:t>
            </a:r>
            <a:r>
              <a:rPr lang="en-IN" dirty="0"/>
              <a:t>Hypertension has nearly 1000 emergency admissions, the hospital should ensure 24/7 availability of cardiac specialists and rapid-response blood pressure management kits.</a:t>
            </a:r>
          </a:p>
          <a:p>
            <a:r>
              <a:rPr lang="en-IN" b="1" dirty="0"/>
              <a:t>Cancer Care </a:t>
            </a:r>
            <a:r>
              <a:rPr lang="en-IN" dirty="0"/>
              <a:t>-  Due to the significant volume of Cancer patients (1647), a dedicated multidisciplinary team should be available to handle complex needs of these patients, whether they arrive for a planned surgery or an emergency.</a:t>
            </a:r>
          </a:p>
          <a:p>
            <a:r>
              <a:rPr lang="en-IN" b="1" dirty="0"/>
              <a:t>Operational Maintenance </a:t>
            </a:r>
            <a:r>
              <a:rPr lang="en-IN" dirty="0"/>
              <a:t>– The Winter season should be utilized for equipment maintenance and staff training programs, as patient volume is at its lowest during this period.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BE432F-7738-ACD9-879F-A9EC49FFF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158941"/>
              </p:ext>
            </p:extLst>
          </p:nvPr>
        </p:nvGraphicFramePr>
        <p:xfrm>
          <a:off x="1847528" y="5041984"/>
          <a:ext cx="8127999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934467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553865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46979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Volume ( Admission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Critical Requirement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509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Hypertension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2155 ( Top Condition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24/7 Cardiac Specialist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3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Multidisciplinary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5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Winter 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1615 ( Lowest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Equipment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230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D0DFF-4C4C-8858-EC46-820C42D5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FA8D-0870-D1AA-9F39-4A097AD5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Strategic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16B7F-8508-830E-552C-7EEB0D23C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1772816"/>
            <a:ext cx="11305256" cy="417646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Financial Efficiency – </a:t>
            </a:r>
            <a:r>
              <a:rPr lang="en-US" dirty="0"/>
              <a:t>Implement a policy to prioritize insurance provider like Blue Cross and Medicare, which can reduce overall billing by approximately 2-3%.</a:t>
            </a:r>
          </a:p>
          <a:p>
            <a:r>
              <a:rPr lang="en-US" b="1" dirty="0"/>
              <a:t>Targeted Patient Care – </a:t>
            </a:r>
            <a:r>
              <a:rPr lang="en-US" dirty="0"/>
              <a:t>Focus resources on Hypertension (2155 cases) as the primary volume driver, ensuring specialized care is always available.</a:t>
            </a:r>
          </a:p>
          <a:p>
            <a:r>
              <a:rPr lang="en-US" b="1" dirty="0"/>
              <a:t>Resource Optimization – </a:t>
            </a:r>
            <a:r>
              <a:rPr lang="en-US" dirty="0"/>
              <a:t>Transition from expensive Emergency admission (4% higher cost) to managed Elective or Urgent care wherever medically possible.</a:t>
            </a:r>
          </a:p>
          <a:p>
            <a:r>
              <a:rPr lang="en-US" b="1" dirty="0"/>
              <a:t>Operational Scheduling – </a:t>
            </a:r>
            <a:r>
              <a:rPr lang="en-US" dirty="0"/>
              <a:t>Utilize the Winter season ( lowest patient volume at 16% ) for heavy equipment maintenance and comprehensive staff training programs.</a:t>
            </a:r>
          </a:p>
          <a:p>
            <a:r>
              <a:rPr lang="en-US" b="1" dirty="0"/>
              <a:t>Future Initiatives – </a:t>
            </a:r>
            <a:r>
              <a:rPr lang="en-US" dirty="0"/>
              <a:t>Establish community care clinics for chronic conditions like Diabetes and Hypertension to manage patient health at home and reduce the hospital’s inpatient load.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F30CC-9A81-DAD4-52E3-17D8723081D6}"/>
              </a:ext>
            </a:extLst>
          </p:cNvPr>
          <p:cNvSpPr txBox="1"/>
          <p:nvPr/>
        </p:nvSpPr>
        <p:spPr>
          <a:xfrm>
            <a:off x="9624392" y="6021288"/>
            <a:ext cx="2448272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dirty="0"/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46F5D-6EEF-B5D7-6654-71C2440D0477}"/>
              </a:ext>
            </a:extLst>
          </p:cNvPr>
          <p:cNvSpPr txBox="1"/>
          <p:nvPr/>
        </p:nvSpPr>
        <p:spPr>
          <a:xfrm>
            <a:off x="263352" y="6115362"/>
            <a:ext cx="45365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By – Shalini Pandey</a:t>
            </a:r>
          </a:p>
          <a:p>
            <a:r>
              <a:rPr lang="en-IN" sz="1500" dirty="0"/>
              <a:t>E-mail – ipsshalini@gmail.com</a:t>
            </a:r>
          </a:p>
        </p:txBody>
      </p:sp>
    </p:spTree>
    <p:extLst>
      <p:ext uri="{BB962C8B-B14F-4D97-AF65-F5344CB8AC3E}">
        <p14:creationId xmlns:p14="http://schemas.microsoft.com/office/powerpoint/2010/main" val="1774983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251</TotalTime>
  <Words>826</Words>
  <Application>Microsoft Office PowerPoint</Application>
  <PresentationFormat>Widescreen</PresentationFormat>
  <Paragraphs>152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Franklin Gothic Medium</vt:lpstr>
      <vt:lpstr>Medical Design 16x9</vt:lpstr>
      <vt:lpstr>US Healthcare</vt:lpstr>
      <vt:lpstr>US Healthcare Analytics : Patient Demographic, Billing Insights &amp; Hospital Resource &amp; Financial Performance Analysis</vt:lpstr>
      <vt:lpstr>Project Overview</vt:lpstr>
      <vt:lpstr>Demographic Overview ( Gender )</vt:lpstr>
      <vt:lpstr>Demographic Overview ( Age )</vt:lpstr>
      <vt:lpstr>Medical Condition Deep-Dive</vt:lpstr>
      <vt:lpstr>Blood Group &amp; Condition Correlation</vt:lpstr>
      <vt:lpstr>Billing &amp; Insurance Optimization</vt:lpstr>
      <vt:lpstr>Strategic Resource Planning ( Operational )</vt:lpstr>
      <vt:lpstr>Conclusion &amp; Strategic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Kumar</dc:creator>
  <cp:lastModifiedBy>Rahul Kumar</cp:lastModifiedBy>
  <cp:revision>1</cp:revision>
  <dcterms:created xsi:type="dcterms:W3CDTF">2025-12-18T07:23:41Z</dcterms:created>
  <dcterms:modified xsi:type="dcterms:W3CDTF">2025-12-18T16:29:59Z</dcterms:modified>
</cp:coreProperties>
</file>